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6" r:id="rId19"/>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 Id="rId1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MT" dirty="0"/>
              <a:t>PipelineGuard × UiPath Maestro:</a:t>
            </a:r>
            <a:br>
              <a:rPr lang="en-MT" dirty="0"/>
            </a:br>
          </a:p>
          <a:p>
            <a:r>
              <a:rPr lang="en-MT" dirty="0"/>
              <a:t>every CI failure becomes a case.</a:t>
            </a:r>
            <a:br>
              <a:rPr lang="en-MT" dirty="0"/>
            </a:b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John Lee</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Solo builder · @64johnlee</a:t>
            </a:r>
          </a:p>
          <a:p>
            <a:r>
              <a:rPr lang="en-US" dirty="0">
                <a:solidFill>
                  <a:schemeClr val="bg1"/>
                </a:solidFill>
              </a:rPr>
              <a:t>64lamei@gmail.com</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Team: John Lee (solo)</a:t>
            </a:r>
            <a:br>
              <a:rPr lang="en-US" b="0" dirty="0"/>
            </a:br>
            <a:endParaRPr lang="en-MT" dirty="0"/>
          </a:p>
          <a:p>
            <a:r>
              <a:rPr lang="en-US" dirty="0"/>
              <a:t>Project: PipelineGuard × UiPath Maestro</a:t>
            </a:r>
            <a:br>
              <a:rPr lang="en-US" b="0" dirty="0"/>
            </a:b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Pipeline goes red at 2am: open the job, scroll 800 log lines, find the one line that matters, wait for someone with context.</a:t>
            </a:r>
          </a:p>
          <a:p>
            <a:pPr marL="285750" indent="-285750" fontAlgn="base">
              <a:buFont typeface="Arial" panose="020B0604020202020204" pitchFamily="34" charset="0"/>
              <a:buChar char="•"/>
            </a:pPr>
            <a:r>
              <a:rPr lang="en-US" dirty="0"/>
              <a:t>Cost: $2–5K per incident (senior engineer × 2–4 hours). Millions of GitLab CI pipelines fail every day.</a:t>
            </a:r>
          </a:p>
          <a:p>
            <a:pPr marL="285750" indent="-285750" fontAlgn="base">
              <a:buFont typeface="Arial" panose="020B0604020202020204" pitchFamily="34" charset="0"/>
              <a:buChar char="•"/>
            </a:pPr>
            <a:r>
              <a:rPr lang="en-US" dirty="0"/>
              <a:t>No audit trail, no structured lifecycle, no accountability handoff — just a red badge and an interrupt.</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A pipeline failure is a business exception — exactly what UiPath Maestro Case was built for.</a:t>
            </a:r>
          </a:p>
          <a:p>
            <a:pPr marL="285750" indent="-285750" fontAlgn="base">
              <a:buFont typeface="Arial" panose="020B0604020202020204" pitchFamily="34" charset="0"/>
              <a:buChar char="•"/>
            </a:pPr>
            <a:r>
              <a:rPr lang="en-US" dirty="0"/>
              <a:t>Every failure opens a Maestro Case: Gemini 2.5 Flash diagnoses the root cause in ~46 s, an engineer approves the fix in Action Center, and the fix diff lands on the GitLab MR.</a:t>
            </a:r>
          </a:p>
          <a:p>
            <a:pPr marL="285750" indent="-285750" fontAlgn="base">
              <a:buFont typeface="Arial" panose="020B0604020202020204" pitchFamily="34" charset="0"/>
              <a:buChar char="•"/>
            </a:pPr>
            <a:r>
              <a:rPr lang="en-US" dirty="0"/>
              <a:t>First project to apply Maestro Case to DevOps incidents — full lifecycle, audit trail, and human sign-off built in.</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DevOps / platform engineers, SREs</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Engineering</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Software — any organisation running GitLab CI</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a:solidFill>
                            <a:srgbClr val="000000"/>
                          </a:solidFill>
                          <a:effectLst/>
                          <a:latin typeface="Arial" panose="020B0604020202020204" pitchFamily="34" charset="0"/>
                        </a:rPr>
                        <a:t>Studio Web, Maestro Case, Action Center, Orchestrator REST, API Trigger, Persistence Activities, Assets</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Gemini 2.5 Flash (Vertex AI), Model Context Protocol, official GitLab MCP server, Google Cloud Run, Python/FastAPI, Claude Code</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Diagnosis in ~46 s end-to-end vs 2–4 hours of manual log archaeology.</a:t>
            </a:r>
          </a:p>
          <a:p>
            <a:pPr marL="285750" indent="-285750">
              <a:buFont typeface="Arial" panose="020B0604020202020204" pitchFamily="34" charset="0"/>
              <a:buChar char="•"/>
            </a:pPr>
            <a:r>
              <a:rPr lang="en-US" sz="1800" b="0" dirty="0">
                <a:solidFill>
                  <a:schemeClr val="bg1"/>
                </a:solidFill>
              </a:rPr>
              <a:t>&lt; $0.01 per diagnosis vs $400–800 of engineering time — payback after one incident.</a:t>
            </a:r>
          </a:p>
          <a:p>
            <a:pPr marL="285750" indent="-285750">
              <a:buFont typeface="Arial" panose="020B0604020202020204" pitchFamily="34" charset="0"/>
              <a:buChar char="•"/>
            </a:pPr>
            <a:r>
              <a:rPr lang="en-US" sz="1800" b="0" dirty="0">
                <a:solidFill>
                  <a:schemeClr val="bg1"/>
                </a:solidFill>
              </a:rPr>
              <a:t>Verified against a real failed gitlab-org/cli pipeline: correct root cause in 2 tool calls.</a:t>
            </a:r>
          </a:p>
          <a:p>
            <a:pPr marL="285750" indent="-285750">
              <a:buFont typeface="Arial" panose="020B0604020202020204" pitchFamily="34" charset="0"/>
              <a:buChar char="•"/>
            </a:pPr>
            <a:r>
              <a:rPr lang="en-US" sz="1800" b="0" dirty="0">
                <a:solidFill>
                  <a:schemeClr val="bg1"/>
                </a:solidFill>
              </a:rPr>
              <a:t>Every incident gets a case, an owner, an approval, and an audit trail.</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200" b="0" dirty="0">
                <a:solidFill>
                  <a:schemeClr val="bg1"/>
                </a:solidFill>
                <a:latin typeface="Consolas"/>
              </a:rPr>
              <a:t>GitLab pipeline fails ─ webhook → UiPath Orchestrator (API Trigger)</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 Main.xaml orchestrates 4 sub-workflows:</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DiagnoseWithAI.xaml    → POST /api/diagnose → Gemini 2.5 Flash: root cause + fix diff (~46 s)</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CreateMaestroCase.xaml → POST /odata/Cases → Maestro Case opened</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HumanReview.xaml       → Action Center task → engineer approves / rejects</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PostApprovedFix.xaml   → POST /api/uipath/callback → GitLab MR comment with unified diff</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
            </a:r>
            <a:br>
              <a:rPr lang="en-US" sz="1800" b="0" dirty="0">
                <a:solidFill>
                  <a:schemeClr val="bg1"/>
                </a:solidFill>
              </a:rPr>
            </a:br>
            <a:endParaRPr lang="en-US" sz="1800" b="0" dirty="0">
              <a:solidFill>
                <a:schemeClr val="bg1"/>
              </a:solidFill>
            </a:endParaRPr>
          </a:p>
          <a:p>
            <a:r>
              <a:rPr lang="en-US" sz="1200" b="0" dirty="0">
                <a:solidFill>
                  <a:schemeClr val="bg1"/>
                </a:solidFill>
                <a:latin typeface="Consolas"/>
              </a:rPr>
              <a:t>UiPath: Studio Web · Maestro Case · Action Center · Orchestrator REST · API Trigger · Persistence</a:t>
            </a:r>
            <a:br>
              <a:rPr lang="en-US" sz="1800" b="0" dirty="0">
                <a:solidFill>
                  <a:schemeClr val="bg1"/>
                </a:solidFill>
              </a:rPr>
            </a:br>
            <a:endParaRPr lang="en-US" sz="1800" b="0" dirty="0">
              <a:solidFill>
                <a:schemeClr val="bg1"/>
              </a:solidFill>
            </a:endParaRPr>
          </a:p>
        </p:txBody>
      </p:sp>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Live demo &amp; benchmarks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Demo flow: pipeline fails → webhook → Gemini diagnoses (~46 s, 2 MCP tool calls) → Maestro Case opens → Action Center task with root cause + fix diff → engineer clicks Approve → diff posted on the GitLab MR.</a:t>
            </a:r>
          </a:p>
          <a:p>
            <a:r>
              <a:rPr lang="en-US" sz="1800" b="0" dirty="0">
                <a:solidFill>
                  <a:schemeClr val="bg1"/>
                </a:solidFill>
              </a:rPr>
              <a:t>Benchmarks: ~46 s diagnosis · 2 tool calls (cap 15) · &lt; $0.01 per diagnosis · verified on gitlab-org/cli pipeline #2552952663 (correct root cause: malformed git ref).</a:t>
            </a:r>
          </a:p>
          <a:p>
            <a:r>
              <a:rPr lang="en-US" sz="1800" b="0" dirty="0">
                <a:solidFill>
                  <a:schemeClr val="bg1"/>
                </a:solidFill>
              </a:rPr>
              <a:t>Try it live, no install: https://pipeline-guard-fpgq3ij7ya-uc.a.run.app/demo</a:t>
            </a:r>
          </a:p>
          <a:p>
            <a:r>
              <a:rPr lang="en-US" sz="1800" b="0" dirty="0">
                <a:solidFill>
                  <a:schemeClr val="bg1"/>
                </a:solidFill>
              </a:rPr>
              <a:t>Demo video: https://youtu.be/f2g1ppeLhqk</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Every CI failure is a case.</a:t>
            </a:r>
          </a:p>
          <a:p>
            <a:r>
              <a:rPr lang="en-MT" dirty="0"/>
              <a:t>Every fix gets a human sign-off.</a:t>
            </a:r>
          </a:p>
        </p:txBody>
      </p:sp>
    </p:spTree>
    <p:extLst>
      <p:ext uri="{BB962C8B-B14F-4D97-AF65-F5344CB8AC3E}">
        <p14:creationId xmlns:p14="http://schemas.microsoft.com/office/powerpoint/2010/main" val="62120523"/>
      </p:ext>
    </p:extLst>
  </p:cSld>
  <p:clrMapOvr>
    <a:masterClrMapping/>
  </p:clrMapOvr>
  <p:transition spd="med"/>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Why this wins &amp; what's next</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Novel domain: Maestro Case for DevOps is a new category — judges see HR/finance cases; we bring CI/CD.</a:t>
            </a:r>
          </a:p>
          <a:p>
            <a:r>
              <a:rPr lang="en-US" sz="1800" b="0" dirty="0">
                <a:solidFill>
                  <a:schemeClr val="bg1"/>
                </a:solidFill>
              </a:rPr>
              <a:t>Deep platform usage: Studio Web + Maestro + Action Center + Orchestrator API + Persistence + Assets.</a:t>
            </a:r>
          </a:p>
          <a:p>
            <a:r>
              <a:rPr lang="en-US" sz="1800" b="0" dirty="0">
                <a:solidFill>
                  <a:schemeClr val="bg1"/>
                </a:solidFill>
              </a:rPr>
              <a:t>Production-grade: real benchmark, live demo URL, MIT license, 20-minute setup.</a:t>
            </a:r>
          </a:p>
          <a:p>
            <a:r>
              <a:rPr lang="en-US" sz="1800" b="0" dirty="0">
                <a:solidFill>
                  <a:schemeClr val="bg1"/>
                </a:solidFill>
              </a:rPr>
              <a:t>Built with Claude Code end-to-end (verifiable evidence in README — bonus points).</a:t>
            </a:r>
          </a:p>
          <a:p>
            <a:r>
              <a:rPr lang="en-US" sz="1800" b="0" dirty="0">
                <a:solidFill>
                  <a:schemeClr val="bg1"/>
                </a:solidFill>
              </a:rPr>
              <a:t>Next: auto-open GitLab MRs with the fix, Slack notifications from case status, GitHub Actions + Jenkins support, UiPath Marketplace listing.</a:t>
            </a:r>
          </a:p>
          <a:p>
            <a:r>
              <a:rPr lang="en-US" sz="1800" b="0" dirty="0">
                <a:solidFill>
                  <a:schemeClr val="bg1"/>
                </a:solidFill>
              </a:rPr>
              <a:t>GitHub: https://github.com/64johnlee/hackathon-pipeline-guard (branch feat/uipath-maestro-integration)</a:t>
            </a:r>
          </a:p>
        </p:txBody>
      </p:sp>
    </p:spTree>
  </p:cSld>
  <p:clrMapOvr>
    <a:masterClrMapping/>
  </p:clrMapOvr>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